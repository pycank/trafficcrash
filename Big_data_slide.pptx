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 bookmarkIdSeed="4">
  <p:sldMasterIdLst>
    <p:sldMasterId id="2147483657" r:id="rId4"/>
  </p:sldMasterIdLst>
  <p:notesMasterIdLst>
    <p:notesMasterId r:id="rId18"/>
  </p:notesMasterIdLst>
  <p:sldIdLst>
    <p:sldId id="257" r:id="rId5"/>
    <p:sldId id="260" r:id="rId6"/>
    <p:sldId id="290" r:id="rId7"/>
    <p:sldId id="289" r:id="rId8"/>
    <p:sldId id="259" r:id="rId9"/>
    <p:sldId id="284" r:id="rId10"/>
    <p:sldId id="266" r:id="rId11"/>
    <p:sldId id="285" r:id="rId12"/>
    <p:sldId id="286" r:id="rId13"/>
    <p:sldId id="287" r:id="rId14"/>
    <p:sldId id="291" r:id="rId15"/>
    <p:sldId id="288" r:id="rId16"/>
    <p:sldId id="264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9B3A98-645E-E5F6-E4DA-49DA0DE4CED9}" v="455" dt="2026-01-05T01:45:11.547"/>
    <p1510:client id="{FF047C0B-526C-5D90-9257-8AAB86DFA922}" v="3" dt="2026-01-05T00:29:52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3840" autoAdjust="0"/>
  </p:normalViewPr>
  <p:slideViewPr>
    <p:cSldViewPr snapToGrid="0">
      <p:cViewPr varScale="1">
        <p:scale>
          <a:sx n="198" d="100"/>
          <a:sy n="198" d="100"/>
        </p:scale>
        <p:origin x="6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F7E88987-C88D-EE71-92EC-84A622407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8F92B880-538C-78D0-5882-ADE1BB520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76FC0BDA-1EEF-3349-8903-7A1E6ED97B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9597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5910BD11-07EC-8036-2163-77B618EDB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:notes">
            <a:extLst>
              <a:ext uri="{FF2B5EF4-FFF2-40B4-BE49-F238E27FC236}">
                <a16:creationId xmlns:a16="http://schemas.microsoft.com/office/drawing/2014/main" id="{ECFB1AAB-AC2B-C730-DBD9-3C1D97D0F8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8:notes">
            <a:extLst>
              <a:ext uri="{FF2B5EF4-FFF2-40B4-BE49-F238E27FC236}">
                <a16:creationId xmlns:a16="http://schemas.microsoft.com/office/drawing/2014/main" id="{743264FB-749A-42E7-60EC-1880B8C3B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7385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F6555F9-F8F8-834D-34F2-2411B3B11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CDD82124-9372-CFDC-3DB6-8986B4CE6F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EAD8A5C6-26FC-60DA-9603-1E7FF8E9F5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19963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754F07D4-71AA-951C-610A-60E425260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494F0B85-C3A6-B703-EDC7-B2ECCD39C2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EC8DC00E-65E6-C245-6AD1-FA0FA7C76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71682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59D09A5B-0966-21C7-8298-7F7CF2CC4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FF484D91-8B07-9E0D-604A-7FF8440FE9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714EE930-DAC3-367A-062A-26B057C31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562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939ECFE5-2DAB-563B-7A84-637AE6A80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B00AECDA-A936-9F1C-6F4A-A335ECBB07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1E33709E-2675-F71F-0D44-4F2C4B7153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05721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4BF07B72-95D9-C36E-901D-C19D9F9AB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B100F149-546C-6FA0-98D2-42DCBF7E8A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3C6AB2FF-8E9E-F650-4F17-D245BAC1D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0502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E4337DF6-3E7C-0ECC-F642-0B8FC0A8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c2541be1bc_0_2:notes">
            <a:extLst>
              <a:ext uri="{FF2B5EF4-FFF2-40B4-BE49-F238E27FC236}">
                <a16:creationId xmlns:a16="http://schemas.microsoft.com/office/drawing/2014/main" id="{656549B1-8B9C-C914-FBAA-00EB63075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1c2541be1bc_0_2:notes">
            <a:extLst>
              <a:ext uri="{FF2B5EF4-FFF2-40B4-BE49-F238E27FC236}">
                <a16:creationId xmlns:a16="http://schemas.microsoft.com/office/drawing/2014/main" id="{2311E70E-C58B-C468-7880-04444E20CB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423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>
  <p:cSld name="1_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>
            <a:spLocks noGrp="1"/>
          </p:cNvSpPr>
          <p:nvPr>
            <p:ph type="title"/>
          </p:nvPr>
        </p:nvSpPr>
        <p:spPr>
          <a:xfrm>
            <a:off x="3511295" y="168688"/>
            <a:ext cx="5397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body" idx="1"/>
          </p:nvPr>
        </p:nvSpPr>
        <p:spPr>
          <a:xfrm>
            <a:off x="3524251" y="758429"/>
            <a:ext cx="5384700" cy="41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35077" y="5896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35077" y="630935"/>
            <a:ext cx="8674200" cy="39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ontent with Caption">
  <p:cSld name="1_Content with Ca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F2F2F2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380488" y="1773936"/>
            <a:ext cx="4383000" cy="15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528828" y="1067467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572000" y="1067467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35077" y="5896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235077" y="5896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sz="2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595884" y="1149763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2"/>
          </p:nvPr>
        </p:nvSpPr>
        <p:spPr>
          <a:xfrm>
            <a:off x="4639056" y="1149763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28650" y="492394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3028950" y="492394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2" descr="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3012" y="172218"/>
            <a:ext cx="1932280" cy="70216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2"/>
          <p:cNvSpPr txBox="1"/>
          <p:nvPr/>
        </p:nvSpPr>
        <p:spPr>
          <a:xfrm>
            <a:off x="413012" y="1386568"/>
            <a:ext cx="8730988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90000"/>
              </a:lnSpc>
              <a:buClr>
                <a:srgbClr val="C00000"/>
              </a:buClr>
              <a:buSzPts val="5400"/>
            </a:pPr>
            <a:r>
              <a:rPr lang="en-SG" sz="4000" b="1" dirty="0">
                <a:solidFill>
                  <a:srgbClr val="C00000"/>
                </a:solidFill>
              </a:rPr>
              <a:t>Traffic Accident Analysis</a:t>
            </a:r>
            <a:endParaRPr sz="4000" b="1" i="0" u="none" strike="noStrike" cap="none" dirty="0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2"/>
          <p:cNvSpPr txBox="1"/>
          <p:nvPr/>
        </p:nvSpPr>
        <p:spPr>
          <a:xfrm>
            <a:off x="413012" y="2570436"/>
            <a:ext cx="7342500" cy="152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Phan Công Anh – 20210078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Nguyễn Việt Dũng - 20214883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Lê Quang Hiếu – 20210335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Bùi Anh Nhật – 20210657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Lato"/>
              <a:buNone/>
            </a:pPr>
            <a:r>
              <a:rPr lang="vi-VN" sz="1600" dirty="0">
                <a:solidFill>
                  <a:srgbClr val="C00000"/>
                </a:solidFill>
                <a:latin typeface="+mn-lt"/>
                <a:ea typeface="Open Sans"/>
                <a:cs typeface="Open Sans"/>
                <a:sym typeface="Open Sans"/>
              </a:rPr>
              <a:t>Nhữ Minh Hà – 20212784</a:t>
            </a:r>
          </a:p>
          <a:p>
            <a:pPr>
              <a:lnSpc>
                <a:spcPct val="150000"/>
              </a:lnSpc>
              <a:buSzPts val="2800"/>
            </a:pPr>
            <a:r>
              <a:rPr lang="vi-VN" sz="1600">
                <a:solidFill>
                  <a:srgbClr val="C00000"/>
                </a:solidFill>
                <a:ea typeface="Open Sans"/>
                <a:cs typeface="Open Sans"/>
              </a:rPr>
              <a:t>Vũ Nhật Minh - 20214919</a:t>
            </a:r>
            <a:endParaRPr lang="vi-VN" sz="1600" dirty="0">
              <a:solidFill>
                <a:srgbClr val="C00000"/>
              </a:solidFill>
              <a:ea typeface="Open Sans"/>
              <a:cs typeface="Open Sans"/>
            </a:endParaRPr>
          </a:p>
          <a:p>
            <a:pPr>
              <a:lnSpc>
                <a:spcPct val="90000"/>
              </a:lnSpc>
              <a:buClr>
                <a:srgbClr val="C00000"/>
              </a:buClr>
              <a:buSzPts val="2800"/>
            </a:pPr>
            <a:endParaRPr lang="en-US" sz="1600" dirty="0">
              <a:solidFill>
                <a:srgbClr val="C00000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61" name="Google Shape;61;p12"/>
          <p:cNvSpPr txBox="1"/>
          <p:nvPr/>
        </p:nvSpPr>
        <p:spPr>
          <a:xfrm>
            <a:off x="413012" y="2024212"/>
            <a:ext cx="3108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vi-VN" sz="2800" b="1" u="none" strike="noStrike" cap="none" dirty="0" err="1">
                <a:solidFill>
                  <a:srgbClr val="C00000"/>
                </a:solidFill>
                <a:ea typeface="Open Sans"/>
                <a:cs typeface="Open Sans"/>
                <a:sym typeface="Open Sans"/>
              </a:rPr>
              <a:t>Checkpoint</a:t>
            </a:r>
            <a:r>
              <a:rPr lang="vi-VN" sz="2800" b="1" dirty="0">
                <a:solidFill>
                  <a:srgbClr val="C00000"/>
                </a:solidFill>
                <a:ea typeface="Open Sans"/>
                <a:cs typeface="Open Sans"/>
                <a:sym typeface="Open Sans"/>
              </a:rPr>
              <a:t> no.2</a:t>
            </a:r>
            <a:endParaRPr sz="2800" b="1" u="none" strike="noStrike" cap="none" dirty="0">
              <a:solidFill>
                <a:srgbClr val="C00000"/>
              </a:solidFill>
              <a:latin typeface="+mn-lt"/>
              <a:ea typeface="Open Sans"/>
              <a:cs typeface="Open Sans"/>
              <a:sym typeface="Open San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A0968-1FCD-A0ED-6681-ABC1F076DDC0}"/>
              </a:ext>
            </a:extLst>
          </p:cNvPr>
          <p:cNvSpPr txBox="1"/>
          <p:nvPr/>
        </p:nvSpPr>
        <p:spPr>
          <a:xfrm>
            <a:off x="413012" y="1131251"/>
            <a:ext cx="4572000" cy="31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buClr>
                <a:srgbClr val="C00000"/>
              </a:buClr>
              <a:buSzPts val="5400"/>
            </a:pPr>
            <a:r>
              <a:rPr lang="en-SG" sz="1600" b="1" u="sng" dirty="0">
                <a:solidFill>
                  <a:srgbClr val="C00000"/>
                </a:solidFill>
              </a:rPr>
              <a:t>Big Data Storage &amp; Processing</a:t>
            </a:r>
            <a:endParaRPr lang="en-SG" sz="1600" b="1" i="0" u="sng" strike="noStrike" cap="none" dirty="0">
              <a:solidFill>
                <a:srgbClr val="C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title"/>
          </p:nvPr>
        </p:nvSpPr>
        <p:spPr>
          <a:xfrm>
            <a:off x="235052" y="1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 sz="2500" dirty="0"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2E58FC-88E8-CF2C-78B5-9C30688B7C09}"/>
              </a:ext>
            </a:extLst>
          </p:cNvPr>
          <p:cNvSpPr txBox="1"/>
          <p:nvPr/>
        </p:nvSpPr>
        <p:spPr>
          <a:xfrm>
            <a:off x="235052" y="612194"/>
            <a:ext cx="1056700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SG" sz="1800" b="1" u="sng"/>
              <a:t>Content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A4C35-0E65-078F-FFE8-89012AA3BDF2}"/>
              </a:ext>
            </a:extLst>
          </p:cNvPr>
          <p:cNvSpPr txBox="1"/>
          <p:nvPr/>
        </p:nvSpPr>
        <p:spPr>
          <a:xfrm>
            <a:off x="235072" y="1602153"/>
            <a:ext cx="3680557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sz="1600" b="1"/>
              <a:t>Problem Definition</a:t>
            </a:r>
            <a:endParaRPr lang="en-US" sz="1600" b="1" dirty="0"/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/>
              <a:t>Architecture</a:t>
            </a:r>
            <a:endParaRPr lang="en-US" sz="1600" b="1" dirty="0"/>
          </a:p>
          <a:p>
            <a:pPr marL="342900" indent="-342900">
              <a:buAutoNum type="arabicPeriod"/>
            </a:pPr>
            <a:endParaRPr lang="en-US" sz="1600" b="1" dirty="0"/>
          </a:p>
          <a:p>
            <a:pPr marL="342900" indent="-342900">
              <a:buAutoNum type="arabicPeriod"/>
            </a:pPr>
            <a:r>
              <a:rPr lang="en-US" sz="1600" b="1"/>
              <a:t>System components</a:t>
            </a:r>
          </a:p>
          <a:p>
            <a:pPr marL="342900" indent="-342900">
              <a:buAutoNum type="arabicPeriod"/>
            </a:pPr>
            <a:endParaRPr lang="en-US" sz="1600" b="1" dirty="0">
              <a:ea typeface="Lato"/>
            </a:endParaRPr>
          </a:p>
          <a:p>
            <a:pPr marL="342900" indent="-342900">
              <a:buAutoNum type="arabicPeriod"/>
            </a:pPr>
            <a:r>
              <a:rPr lang="en-US" sz="1600" b="1">
                <a:ea typeface="Lato"/>
              </a:rPr>
              <a:t>Difficulties</a:t>
            </a:r>
            <a:r>
              <a:rPr lang="en-US" sz="1600" b="1" dirty="0">
                <a:ea typeface="Lato"/>
              </a:rPr>
              <a:t> and solutions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58A8DBF2-E97B-6157-5EDF-3903FCC53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B472439B-6E1A-5301-7299-3EB006C14C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C571D173-3AA2-EA88-0179-C74E8A0AB5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Storage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27382953-D228-02E1-FBB7-4AA2FEC0D8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737223"/>
            <a:ext cx="5470657" cy="366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Storage Layer</a:t>
            </a:r>
          </a:p>
          <a:p>
            <a:r>
              <a:rPr lang="en-US" sz="1400" dirty="0"/>
              <a:t>Stores raw accident data coming from Kafka Consumer</a:t>
            </a:r>
          </a:p>
          <a:p>
            <a:r>
              <a:rPr lang="en-US" sz="1400" dirty="0"/>
              <a:t>Has one </a:t>
            </a:r>
            <a:r>
              <a:rPr lang="en-US" sz="1400" b="1" dirty="0"/>
              <a:t>Name Node</a:t>
            </a:r>
            <a:r>
              <a:rPr lang="en-US" sz="1400" dirty="0"/>
              <a:t> to manages and serves request</a:t>
            </a:r>
          </a:p>
          <a:p>
            <a:r>
              <a:rPr lang="en-US" sz="1400" dirty="0"/>
              <a:t>Distributed across </a:t>
            </a:r>
            <a:r>
              <a:rPr lang="en-US" sz="1400" b="1" dirty="0"/>
              <a:t>3 Data Nodes</a:t>
            </a:r>
            <a:endParaRPr lang="en-US" sz="1400" dirty="0"/>
          </a:p>
          <a:p>
            <a:r>
              <a:rPr lang="en-US" sz="1400" dirty="0"/>
              <a:t>Each file blocks is </a:t>
            </a:r>
            <a:r>
              <a:rPr lang="en-US" sz="1400" b="1" dirty="0"/>
              <a:t>replicated 3 times</a:t>
            </a:r>
            <a:r>
              <a:rPr lang="en-US" sz="1400" dirty="0"/>
              <a:t> for fault tolerance</a:t>
            </a:r>
          </a:p>
          <a:p>
            <a:r>
              <a:rPr lang="en-US" sz="1400" dirty="0"/>
              <a:t>Splits data into </a:t>
            </a:r>
            <a:r>
              <a:rPr lang="en-US" sz="1400" b="1" dirty="0"/>
              <a:t>128 MB HDFS blocks</a:t>
            </a:r>
            <a:endParaRPr lang="en-US" sz="1400" dirty="0"/>
          </a:p>
          <a:p>
            <a:r>
              <a:rPr lang="en-US" sz="1400" dirty="0"/>
              <a:t>Provides reliable storage before batch &amp; real-time processing</a:t>
            </a:r>
          </a:p>
          <a:p>
            <a:pPr marL="50800" indent="0">
              <a:buNone/>
            </a:pPr>
            <a:r>
              <a:rPr lang="en-US" sz="1400" b="1" dirty="0"/>
              <a:t>Structure</a:t>
            </a:r>
          </a:p>
          <a:p>
            <a:r>
              <a:rPr lang="en-US" sz="1400" b="1" dirty="0"/>
              <a:t>HDFS Cluster</a:t>
            </a:r>
            <a:r>
              <a:rPr lang="en-US" sz="1400" dirty="0"/>
              <a:t> – distributed file system</a:t>
            </a:r>
          </a:p>
          <a:p>
            <a:r>
              <a:rPr lang="en-US" sz="1400" b="1" dirty="0"/>
              <a:t>1 </a:t>
            </a:r>
            <a:r>
              <a:rPr lang="en-US" sz="1400" b="1" dirty="0" err="1"/>
              <a:t>NameNode</a:t>
            </a:r>
            <a:r>
              <a:rPr lang="en-US" sz="1400" dirty="0"/>
              <a:t> – manages metadata, status and serves requests</a:t>
            </a:r>
          </a:p>
          <a:p>
            <a:r>
              <a:rPr lang="en-US" sz="1400" b="1" dirty="0"/>
              <a:t>3 </a:t>
            </a:r>
            <a:r>
              <a:rPr lang="en-US" sz="1400" b="1" dirty="0" err="1"/>
              <a:t>DataNodes</a:t>
            </a:r>
            <a:r>
              <a:rPr lang="en-US" sz="1400" b="1" dirty="0"/>
              <a:t> </a:t>
            </a:r>
            <a:r>
              <a:rPr lang="en-US" sz="1400" dirty="0"/>
              <a:t> – store actual data blocks</a:t>
            </a:r>
          </a:p>
        </p:txBody>
      </p:sp>
      <p:pic>
        <p:nvPicPr>
          <p:cNvPr id="4" name="Picture 3" descr="A black and white circular sign with a black text&#10;&#10;AI-generated content may be incorrect.">
            <a:extLst>
              <a:ext uri="{FF2B5EF4-FFF2-40B4-BE49-F238E27FC236}">
                <a16:creationId xmlns:a16="http://schemas.microsoft.com/office/drawing/2014/main" id="{0D358D89-E131-45E7-2900-929FB3EF89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66" y="1141663"/>
            <a:ext cx="2860174" cy="286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077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AEAD0214-78B0-8248-DB29-DC7FBC49A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>
            <a:extLst>
              <a:ext uri="{FF2B5EF4-FFF2-40B4-BE49-F238E27FC236}">
                <a16:creationId xmlns:a16="http://schemas.microsoft.com/office/drawing/2014/main" id="{EC820866-593C-ACF1-EDD5-6395A6F196B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3" name="Google Shape;83;p15">
            <a:extLst>
              <a:ext uri="{FF2B5EF4-FFF2-40B4-BE49-F238E27FC236}">
                <a16:creationId xmlns:a16="http://schemas.microsoft.com/office/drawing/2014/main" id="{D1B55AC7-7C87-CEE0-89EF-B4B7D4EBFF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52" y="10"/>
            <a:ext cx="86739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</a:pPr>
            <a:r>
              <a:rPr lang="en-US" sz="2500" dirty="0">
                <a:latin typeface="Open Sans"/>
                <a:ea typeface="Open Sans"/>
                <a:cs typeface="Open Sans"/>
                <a:sym typeface="Open Sans"/>
              </a:rPr>
              <a:t>Architecture</a:t>
            </a:r>
            <a:endParaRPr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C2B800-5B26-7B5F-561A-0421832F7020}"/>
              </a:ext>
            </a:extLst>
          </p:cNvPr>
          <p:cNvSpPr txBox="1"/>
          <p:nvPr/>
        </p:nvSpPr>
        <p:spPr>
          <a:xfrm>
            <a:off x="235052" y="61219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800" b="1" u="sng" dirty="0"/>
              <a:t>Lambda Architecture</a:t>
            </a:r>
          </a:p>
        </p:txBody>
      </p:sp>
      <p:pic>
        <p:nvPicPr>
          <p:cNvPr id="4" name="Picture 3" descr="A diagram of a company's logo&#10;&#10;AI-generated content may be incorrect.">
            <a:extLst>
              <a:ext uri="{FF2B5EF4-FFF2-40B4-BE49-F238E27FC236}">
                <a16:creationId xmlns:a16="http://schemas.microsoft.com/office/drawing/2014/main" id="{A7C967F4-49F5-24E6-8DBF-21F4D26D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643" y="1255011"/>
            <a:ext cx="7728136" cy="3193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197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235052" y="471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/>
              <a:t>System Components </a:t>
            </a:r>
            <a:endParaRPr lang="en-US"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113105" y="1366424"/>
            <a:ext cx="4896843" cy="2695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600" b="1" dirty="0"/>
              <a:t>Main components of our data pipeline:</a:t>
            </a:r>
            <a:endParaRPr lang="en-US" sz="1600" dirty="0"/>
          </a:p>
          <a:p>
            <a:r>
              <a:rPr lang="en-US" sz="1600" dirty="0"/>
              <a:t>Real-time data ingestion</a:t>
            </a:r>
          </a:p>
          <a:p>
            <a:r>
              <a:rPr lang="en-US" sz="1600" dirty="0"/>
              <a:t>Distributed raw data storage</a:t>
            </a:r>
          </a:p>
          <a:p>
            <a:r>
              <a:rPr lang="en-US" sz="1600" dirty="0"/>
              <a:t>Streaming and batch processing</a:t>
            </a:r>
          </a:p>
          <a:p>
            <a:r>
              <a:rPr lang="en-US" sz="1600" dirty="0"/>
              <a:t>Storing processed results for fast queries</a:t>
            </a:r>
          </a:p>
          <a:p>
            <a:r>
              <a:rPr lang="en-US" sz="1600" dirty="0"/>
              <a:t>Visualization through dashboards</a:t>
            </a:r>
          </a:p>
        </p:txBody>
      </p:sp>
      <p:pic>
        <p:nvPicPr>
          <p:cNvPr id="4" name="Picture 3" descr="A diagram of a process&#10;&#10;AI-generated content may be incorrect.">
            <a:extLst>
              <a:ext uri="{FF2B5EF4-FFF2-40B4-BE49-F238E27FC236}">
                <a16:creationId xmlns:a16="http://schemas.microsoft.com/office/drawing/2014/main" id="{7A40D002-2483-92BE-E163-B8B15BC14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9402" y="782172"/>
            <a:ext cx="2575961" cy="38639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F4A30D16-4B5C-8436-745A-E43BEEB54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E6924E76-54EE-FB28-9738-1CC5E74CF8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325B70EF-46DD-9EA0-A3B3-A7CC3CD58A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Storage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74F58814-884A-88D0-13F2-C37E2FAD3A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737223"/>
            <a:ext cx="5470657" cy="366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Storage Layer</a:t>
            </a:r>
          </a:p>
          <a:p>
            <a:r>
              <a:rPr lang="en-US" sz="1400" dirty="0"/>
              <a:t>Stores raw accident data coming from Kafka Consumer</a:t>
            </a:r>
          </a:p>
          <a:p>
            <a:r>
              <a:rPr lang="en-US" sz="1400" dirty="0"/>
              <a:t>Has one </a:t>
            </a:r>
            <a:r>
              <a:rPr lang="en-US" sz="1400" b="1" dirty="0"/>
              <a:t>Name Node</a:t>
            </a:r>
            <a:r>
              <a:rPr lang="en-US" sz="1400" dirty="0"/>
              <a:t> to manages and serves request</a:t>
            </a:r>
          </a:p>
          <a:p>
            <a:r>
              <a:rPr lang="en-US" sz="1400" dirty="0"/>
              <a:t>Distributed across </a:t>
            </a:r>
            <a:r>
              <a:rPr lang="en-US" sz="1400" b="1" dirty="0"/>
              <a:t>3 Data Nodes</a:t>
            </a:r>
            <a:endParaRPr lang="en-US" sz="1400" dirty="0"/>
          </a:p>
          <a:p>
            <a:r>
              <a:rPr lang="en-US" sz="1400" dirty="0"/>
              <a:t>Each file blocks is </a:t>
            </a:r>
            <a:r>
              <a:rPr lang="en-US" sz="1400" b="1" dirty="0"/>
              <a:t>replicated 3 times</a:t>
            </a:r>
            <a:r>
              <a:rPr lang="en-US" sz="1400" dirty="0"/>
              <a:t> for fault tolerance</a:t>
            </a:r>
          </a:p>
          <a:p>
            <a:r>
              <a:rPr lang="en-US" sz="1400" dirty="0"/>
              <a:t>Splits data into </a:t>
            </a:r>
            <a:r>
              <a:rPr lang="en-US" sz="1400" b="1" dirty="0"/>
              <a:t>128 MB HDFS blocks</a:t>
            </a:r>
            <a:endParaRPr lang="en-US" sz="1400" dirty="0"/>
          </a:p>
          <a:p>
            <a:r>
              <a:rPr lang="en-US" sz="1400" dirty="0"/>
              <a:t>Provides reliable storage before batch &amp; real-time processing</a:t>
            </a:r>
          </a:p>
          <a:p>
            <a:pPr marL="50800" indent="0">
              <a:buNone/>
            </a:pPr>
            <a:r>
              <a:rPr lang="en-US" sz="1400" b="1" dirty="0"/>
              <a:t>Structure</a:t>
            </a:r>
          </a:p>
          <a:p>
            <a:r>
              <a:rPr lang="en-US" sz="1400" b="1" dirty="0"/>
              <a:t>HDFS Cluster</a:t>
            </a:r>
            <a:r>
              <a:rPr lang="en-US" sz="1400" dirty="0"/>
              <a:t> – distributed file system</a:t>
            </a:r>
          </a:p>
          <a:p>
            <a:r>
              <a:rPr lang="en-US" sz="1400" b="1" dirty="0"/>
              <a:t>1 </a:t>
            </a:r>
            <a:r>
              <a:rPr lang="en-US" sz="1400" b="1" dirty="0" err="1"/>
              <a:t>NameNode</a:t>
            </a:r>
            <a:r>
              <a:rPr lang="en-US" sz="1400" dirty="0"/>
              <a:t> – manages metadata, status and serves requests</a:t>
            </a:r>
          </a:p>
          <a:p>
            <a:r>
              <a:rPr lang="en-US" sz="1400" b="1" dirty="0"/>
              <a:t>3 </a:t>
            </a:r>
            <a:r>
              <a:rPr lang="en-US" sz="1400" b="1" dirty="0" err="1"/>
              <a:t>DataNodes</a:t>
            </a:r>
            <a:r>
              <a:rPr lang="en-US" sz="1400" b="1" dirty="0"/>
              <a:t> </a:t>
            </a:r>
            <a:r>
              <a:rPr lang="en-US" sz="1400" dirty="0"/>
              <a:t> – store actual data blocks</a:t>
            </a:r>
          </a:p>
        </p:txBody>
      </p:sp>
      <p:pic>
        <p:nvPicPr>
          <p:cNvPr id="4" name="Picture 3" descr="A black and white circular sign with a black text&#10;&#10;AI-generated content may be incorrect.">
            <a:extLst>
              <a:ext uri="{FF2B5EF4-FFF2-40B4-BE49-F238E27FC236}">
                <a16:creationId xmlns:a16="http://schemas.microsoft.com/office/drawing/2014/main" id="{FCC60F16-49BD-8383-D92C-2BB5923A1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966" y="1141663"/>
            <a:ext cx="2860174" cy="286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186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82" name="Google Shape;82;g1c2541be1bc_0_2"/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/>
              <a:t>Data Ingestion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/>
          <p:cNvSpPr txBox="1">
            <a:spLocks noGrp="1"/>
          </p:cNvSpPr>
          <p:nvPr>
            <p:ph type="body" idx="1"/>
          </p:nvPr>
        </p:nvSpPr>
        <p:spPr>
          <a:xfrm>
            <a:off x="235077" y="869258"/>
            <a:ext cx="5088666" cy="3404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Ingestion Layer</a:t>
            </a:r>
            <a:endParaRPr lang="en-US" sz="1400" dirty="0"/>
          </a:p>
          <a:p>
            <a:r>
              <a:rPr lang="en-US" sz="1400" dirty="0"/>
              <a:t>Receives continuous accident data</a:t>
            </a:r>
          </a:p>
          <a:p>
            <a:r>
              <a:rPr lang="en-US" sz="1400" dirty="0"/>
              <a:t>Simulated stream adds </a:t>
            </a:r>
            <a:r>
              <a:rPr lang="en-US" sz="1400" b="1" dirty="0"/>
              <a:t>1 new article every 0.5 seconds</a:t>
            </a:r>
            <a:endParaRPr lang="en-US" sz="1400" dirty="0"/>
          </a:p>
          <a:p>
            <a:r>
              <a:rPr lang="en-US" sz="1400" dirty="0"/>
              <a:t>Article is in JSON format</a:t>
            </a:r>
          </a:p>
          <a:p>
            <a:r>
              <a:rPr lang="en-US" sz="1400" dirty="0"/>
              <a:t>Acts as the entry point of the entire pipeline</a:t>
            </a:r>
            <a:endParaRPr lang="en-US" dirty="0"/>
          </a:p>
          <a:p>
            <a:pPr marL="50800" indent="0">
              <a:buNone/>
            </a:pPr>
            <a:endParaRPr lang="en-US" sz="1400" b="1" dirty="0"/>
          </a:p>
          <a:p>
            <a:pPr marL="50800" indent="0">
              <a:buNone/>
            </a:pPr>
            <a:r>
              <a:rPr lang="en-US" sz="1400" b="1" dirty="0"/>
              <a:t>Structure</a:t>
            </a:r>
          </a:p>
          <a:p>
            <a:r>
              <a:rPr lang="en-US" sz="1400" b="1" dirty="0"/>
              <a:t>3 Kafka brokers</a:t>
            </a:r>
            <a:endParaRPr lang="en-US" sz="1400" dirty="0"/>
          </a:p>
          <a:p>
            <a:r>
              <a:rPr lang="en-US" sz="1400" b="1" dirty="0"/>
              <a:t>1 Zookeeper</a:t>
            </a:r>
          </a:p>
          <a:p>
            <a:r>
              <a:rPr lang="en-US" sz="1400" b="1" dirty="0"/>
              <a:t>1 Kafka Topic (</a:t>
            </a:r>
            <a:r>
              <a:rPr lang="en-US" sz="1400" b="1" dirty="0" err="1"/>
              <a:t>traffic_accident</a:t>
            </a:r>
            <a:r>
              <a:rPr lang="en-US" sz="1400" b="1" dirty="0"/>
              <a:t>)</a:t>
            </a:r>
          </a:p>
          <a:p>
            <a:pPr marL="50800" indent="0">
              <a:buNone/>
            </a:pPr>
            <a:endParaRPr lang="en-US" sz="1400" b="1" dirty="0"/>
          </a:p>
        </p:txBody>
      </p:sp>
      <p:pic>
        <p:nvPicPr>
          <p:cNvPr id="3" name="Picture 2" descr="A black and white circular sign with text&#10;&#10;AI-generated content may be incorrect.">
            <a:extLst>
              <a:ext uri="{FF2B5EF4-FFF2-40B4-BE49-F238E27FC236}">
                <a16:creationId xmlns:a16="http://schemas.microsoft.com/office/drawing/2014/main" id="{76E82FD6-BA03-7D68-5955-4DA0A8C41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734" y="1410101"/>
            <a:ext cx="2323298" cy="23232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9530EFC7-9980-3770-1DBB-8344D3C5C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C93C79A3-1F1B-8319-E904-4876C163C5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47AA852B-C543-821E-EB03-BC1EE1630D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Processing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F756A795-86A0-4C0B-3425-D2B5FA6C3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674659"/>
            <a:ext cx="4943263" cy="400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Processing Layer</a:t>
            </a:r>
          </a:p>
          <a:p>
            <a:r>
              <a:rPr lang="en-US" sz="1400" dirty="0"/>
              <a:t>Handles streaming + batch workloads</a:t>
            </a:r>
          </a:p>
          <a:p>
            <a:r>
              <a:rPr lang="en-US" sz="1400" dirty="0"/>
              <a:t>Performs cleaning, transformation, and aggregation</a:t>
            </a:r>
          </a:p>
          <a:p>
            <a:r>
              <a:rPr lang="en-US" sz="1400" dirty="0"/>
              <a:t>Extracts key metrics (severity, trends, weather)</a:t>
            </a:r>
          </a:p>
          <a:p>
            <a:pPr marL="50800" indent="0">
              <a:buNone/>
            </a:pPr>
            <a:r>
              <a:rPr lang="en-US" sz="1400" b="1" dirty="0"/>
              <a:t>Real-Time Processing (Streaming)</a:t>
            </a:r>
          </a:p>
          <a:p>
            <a:r>
              <a:rPr lang="en-US" sz="1400" dirty="0"/>
              <a:t>Spark Streaming processes incoming Kafka records</a:t>
            </a:r>
          </a:p>
          <a:p>
            <a:r>
              <a:rPr lang="en-US" sz="1400" dirty="0"/>
              <a:t>Lightweight transformations</a:t>
            </a:r>
          </a:p>
          <a:p>
            <a:r>
              <a:rPr lang="en-US" sz="1400" dirty="0"/>
              <a:t>Writes results to Cassandra</a:t>
            </a:r>
          </a:p>
          <a:p>
            <a:pPr marL="50800" indent="0">
              <a:buNone/>
            </a:pPr>
            <a:r>
              <a:rPr lang="en-US" sz="1400" b="1" dirty="0"/>
              <a:t>Batch Processing</a:t>
            </a:r>
          </a:p>
          <a:p>
            <a:r>
              <a:rPr lang="en-US" sz="1400" dirty="0"/>
              <a:t>Spark reads all data from HDFS</a:t>
            </a:r>
          </a:p>
          <a:p>
            <a:r>
              <a:rPr lang="en-US" sz="1400" dirty="0"/>
              <a:t>Performs heavy transformations</a:t>
            </a:r>
          </a:p>
          <a:p>
            <a:r>
              <a:rPr lang="en-US" sz="1400" dirty="0"/>
              <a:t>Prevents duplicate processing mechanism</a:t>
            </a:r>
          </a:p>
          <a:p>
            <a:r>
              <a:rPr lang="en-US" sz="1400" dirty="0"/>
              <a:t>Stores aggregated batch results in Cassandra</a:t>
            </a:r>
          </a:p>
          <a:p>
            <a:endParaRPr lang="en-US" sz="1400" dirty="0"/>
          </a:p>
        </p:txBody>
      </p:sp>
      <p:pic>
        <p:nvPicPr>
          <p:cNvPr id="15" name="Picture 14" descr="A black and white circular sign with a gear and text&#10;&#10;AI-generated content may be incorrect.">
            <a:extLst>
              <a:ext uri="{FF2B5EF4-FFF2-40B4-BE49-F238E27FC236}">
                <a16:creationId xmlns:a16="http://schemas.microsoft.com/office/drawing/2014/main" id="{4F9DC60F-2E8D-2079-21D2-F3BEA884D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609" y="1151901"/>
            <a:ext cx="3053548" cy="305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59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984C8851-8F71-A06E-719A-D08C3C2C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A83A32FE-41C9-67FB-FBB0-8E53511AE6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D5EC1036-8469-C84D-236A-5070927E93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Serving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DB012C14-7D39-D5A3-0933-FB642D9400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5077" y="491264"/>
            <a:ext cx="5470657" cy="4037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Serving Layer</a:t>
            </a:r>
          </a:p>
          <a:p>
            <a:r>
              <a:rPr lang="en-US" sz="1400" dirty="0"/>
              <a:t>Stores processed streaming + batch outputs</a:t>
            </a:r>
          </a:p>
          <a:p>
            <a:r>
              <a:rPr lang="en-US" sz="1400" dirty="0"/>
              <a:t>Provides fast, fault-tolerant access to results</a:t>
            </a:r>
          </a:p>
          <a:p>
            <a:r>
              <a:rPr lang="en-US" sz="1400" dirty="0"/>
              <a:t>Main data source for dashboards</a:t>
            </a:r>
          </a:p>
          <a:p>
            <a:pPr marL="50800" indent="0">
              <a:buNone/>
            </a:pPr>
            <a:r>
              <a:rPr lang="en-US" sz="1400" b="1" dirty="0"/>
              <a:t>Cassandra Storage</a:t>
            </a:r>
          </a:p>
          <a:p>
            <a:r>
              <a:rPr lang="en-US" sz="1400" dirty="0"/>
              <a:t>3-node Cassandra cluster (RF=3)</a:t>
            </a:r>
          </a:p>
          <a:p>
            <a:r>
              <a:rPr lang="en-US" sz="1400" dirty="0"/>
              <a:t>High availability + distributed writes</a:t>
            </a:r>
          </a:p>
          <a:p>
            <a:r>
              <a:rPr lang="en-US" sz="1400" dirty="0"/>
              <a:t>Stores severity counts, trends, weather metrics</a:t>
            </a:r>
          </a:p>
          <a:p>
            <a:pPr marL="50800" indent="0">
              <a:buNone/>
            </a:pPr>
            <a:r>
              <a:rPr lang="en-US" sz="1400" b="1" dirty="0"/>
              <a:t>Tools</a:t>
            </a:r>
          </a:p>
          <a:p>
            <a:r>
              <a:rPr lang="en-US" sz="1400" dirty="0"/>
              <a:t>Cassandra</a:t>
            </a:r>
          </a:p>
          <a:p>
            <a:r>
              <a:rPr lang="en-US" sz="1400" dirty="0"/>
              <a:t>Spark → Cassandra connector</a:t>
            </a:r>
          </a:p>
          <a:p>
            <a:r>
              <a:rPr lang="en-US" sz="1400" dirty="0"/>
              <a:t>Trino (for queries)</a:t>
            </a:r>
          </a:p>
          <a:p>
            <a:endParaRPr lang="en-US" sz="1400" dirty="0"/>
          </a:p>
        </p:txBody>
      </p:sp>
      <p:pic>
        <p:nvPicPr>
          <p:cNvPr id="5" name="Picture 4" descr="A black and white symbol with text&#10;&#10;AI-generated content may be incorrect.">
            <a:extLst>
              <a:ext uri="{FF2B5EF4-FFF2-40B4-BE49-F238E27FC236}">
                <a16:creationId xmlns:a16="http://schemas.microsoft.com/office/drawing/2014/main" id="{7B0F62EE-F8DE-9527-A8E9-BE8D9225B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8740" y="1133107"/>
            <a:ext cx="2877285" cy="2877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774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6D1AE0C0-71FE-BDE1-5453-1F31A6FE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D6B85AE1-0942-35B2-97FE-DE4E87748C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123251B1-6509-3F94-44E6-C39F587490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en-US" sz="2400" dirty="0"/>
              <a:t>Data Visualization</a:t>
            </a:r>
            <a:endParaRPr lang="en-US" sz="2500" dirty="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57F20203-AC2B-EE91-397A-9CF9D44A6A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1" y="495544"/>
            <a:ext cx="4890376" cy="415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r>
              <a:rPr lang="en-US" sz="1400" b="1" dirty="0"/>
              <a:t>Visualization Layer</a:t>
            </a:r>
          </a:p>
          <a:p>
            <a:r>
              <a:rPr lang="en-US" sz="1400" dirty="0"/>
              <a:t>Dashboards for real-time + historical statistics</a:t>
            </a:r>
          </a:p>
          <a:p>
            <a:r>
              <a:rPr lang="en-US" sz="1400" dirty="0"/>
              <a:t>Displays trends, severity levels, weather impact</a:t>
            </a:r>
          </a:p>
          <a:p>
            <a:r>
              <a:rPr lang="en-US" sz="1400" dirty="0"/>
              <a:t>Helps fast decision-making</a:t>
            </a:r>
          </a:p>
          <a:p>
            <a:pPr marL="50800" indent="0">
              <a:buNone/>
            </a:pPr>
            <a:r>
              <a:rPr lang="en-US" sz="1400" b="1" dirty="0"/>
              <a:t>How It Works</a:t>
            </a:r>
          </a:p>
          <a:p>
            <a:r>
              <a:rPr lang="en-US" sz="1400" dirty="0"/>
              <a:t>Trino translates NoSQL to SQL queries for Cassandra</a:t>
            </a:r>
          </a:p>
          <a:p>
            <a:r>
              <a:rPr lang="en-US" sz="1400" dirty="0"/>
              <a:t>Superset builds interactive dashboards</a:t>
            </a:r>
          </a:p>
          <a:p>
            <a:r>
              <a:rPr lang="en-US" sz="1400" dirty="0"/>
              <a:t>Supports multiple chart types</a:t>
            </a:r>
          </a:p>
          <a:p>
            <a:pPr marL="50800" indent="0">
              <a:buNone/>
            </a:pPr>
            <a:r>
              <a:rPr lang="en-US" sz="1400" b="1" dirty="0"/>
              <a:t>Visualizes</a:t>
            </a:r>
          </a:p>
          <a:p>
            <a:r>
              <a:rPr lang="en-US" sz="1400" dirty="0"/>
              <a:t>Total accidents</a:t>
            </a:r>
          </a:p>
          <a:p>
            <a:r>
              <a:rPr lang="en-US" sz="1400" dirty="0"/>
              <a:t>Accidents by hour</a:t>
            </a:r>
          </a:p>
          <a:p>
            <a:r>
              <a:rPr lang="en-US" sz="1400" dirty="0"/>
              <a:t>Accidents by weather</a:t>
            </a:r>
          </a:p>
          <a:p>
            <a:r>
              <a:rPr lang="en-US" sz="1400" dirty="0"/>
              <a:t>Accidents by severity, ...</a:t>
            </a:r>
          </a:p>
          <a:p>
            <a:endParaRPr lang="en-US" sz="1400" dirty="0"/>
          </a:p>
        </p:txBody>
      </p:sp>
      <p:pic>
        <p:nvPicPr>
          <p:cNvPr id="4" name="Picture 3" descr="A computer with a graph on it&#10;&#10;AI-generated content may be incorrect.">
            <a:extLst>
              <a:ext uri="{FF2B5EF4-FFF2-40B4-BE49-F238E27FC236}">
                <a16:creationId xmlns:a16="http://schemas.microsoft.com/office/drawing/2014/main" id="{CBD1C20D-B8ED-0183-8247-AF12AFE86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9963" y="1294329"/>
            <a:ext cx="2554839" cy="2554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53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B56F86FA-3DBC-3C54-FFBD-46B92B18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8046FEB5-69BE-DB2E-1108-8F945D8B39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55218D74-F405-BAE8-9C1F-9498758945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/>
              <a:t>Difficulties </a:t>
            </a:r>
            <a:r>
              <a:rPr lang="en-US" sz="2400" dirty="0"/>
              <a:t>and solutions</a:t>
            </a:r>
            <a:endParaRPr lang="en-US" sz="2400" b="0"/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D0020179-1426-8166-B85F-139CCD7EA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1" y="495544"/>
            <a:ext cx="8671067" cy="415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endParaRPr lang="en-US" sz="1200" b="1" dirty="0"/>
          </a:p>
          <a:p>
            <a:pPr marL="50800" indent="0">
              <a:buNone/>
            </a:pPr>
            <a:r>
              <a:rPr lang="en-US" sz="1200" b="1" dirty="0"/>
              <a:t>Problem 1: </a:t>
            </a:r>
            <a:r>
              <a:rPr lang="en-US" sz="1200" dirty="0"/>
              <a:t>HDFS </a:t>
            </a:r>
            <a:r>
              <a:rPr lang="en-US" sz="1200" dirty="0" err="1"/>
              <a:t>Datanode</a:t>
            </a:r>
            <a:r>
              <a:rPr lang="en-US" sz="1200" dirty="0"/>
              <a:t> Corruption and Manual Recovery</a:t>
            </a:r>
            <a:endParaRPr lang="en-US"/>
          </a:p>
          <a:p>
            <a:pPr marL="50800" indent="0">
              <a:buNone/>
            </a:pPr>
            <a:r>
              <a:rPr lang="en-US" sz="1200" dirty="0"/>
              <a:t>- The HDFS cluster frequently experienced </a:t>
            </a:r>
            <a:r>
              <a:rPr lang="en-US" sz="1200" dirty="0" err="1"/>
              <a:t>Datanode</a:t>
            </a:r>
            <a:r>
              <a:rPr lang="en-US" sz="1200" dirty="0"/>
              <a:t> corruption, which required manual intervention to restart the affected services</a:t>
            </a:r>
          </a:p>
          <a:p>
            <a:pPr marL="50800" indent="0">
              <a:buNone/>
            </a:pPr>
            <a:r>
              <a:rPr lang="en-US" sz="1200"/>
              <a:t>=&gt; System downtime.</a:t>
            </a:r>
            <a:endParaRPr lang="en-US" sz="1200" dirty="0"/>
          </a:p>
          <a:p>
            <a:pPr marL="50800" indent="0">
              <a:buNone/>
            </a:pPr>
            <a:r>
              <a:rPr lang="en-US" sz="1200" b="1" dirty="0"/>
              <a:t>Solution: </a:t>
            </a:r>
          </a:p>
          <a:p>
            <a:pPr marL="50800" indent="0">
              <a:buNone/>
            </a:pPr>
            <a:r>
              <a:rPr lang="en-US" sz="1200" dirty="0"/>
              <a:t>- Redeployed the </a:t>
            </a:r>
            <a:r>
              <a:rPr lang="en-US" sz="1200" dirty="0" err="1"/>
              <a:t>Datanodes</a:t>
            </a:r>
            <a:r>
              <a:rPr lang="en-US" sz="1200" dirty="0"/>
              <a:t> using a Kubernetes </a:t>
            </a:r>
            <a:r>
              <a:rPr lang="en-US" sz="1200" dirty="0" err="1"/>
              <a:t>StatefulSet</a:t>
            </a:r>
            <a:r>
              <a:rPr lang="en-US" sz="1200" dirty="0"/>
              <a:t> configuration with a replica count of 3. </a:t>
            </a:r>
          </a:p>
          <a:p>
            <a:pPr marL="50800" indent="0">
              <a:buNone/>
            </a:pPr>
            <a:r>
              <a:rPr lang="en-US" sz="1200" dirty="0"/>
              <a:t>- The Kubernetes scheduler automatically terminates it and provides a fresh replica to replace it. </a:t>
            </a:r>
          </a:p>
          <a:p>
            <a:pPr marL="50800" indent="0">
              <a:buNone/>
            </a:pPr>
            <a:r>
              <a:rPr lang="en-US" sz="1200" dirty="0"/>
              <a:t>=&gt; Eliminates the need for manual restarts and maintains the required replication factor for data reliability.</a:t>
            </a:r>
          </a:p>
          <a:p>
            <a:pPr marL="5080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225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037A769A-53B9-336E-3B47-6ED8B1BDD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c2541be1bc_0_2">
            <a:extLst>
              <a:ext uri="{FF2B5EF4-FFF2-40B4-BE49-F238E27FC236}">
                <a16:creationId xmlns:a16="http://schemas.microsoft.com/office/drawing/2014/main" id="{FE7E6B35-E1A0-50BA-E7F4-4EF330DBD4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82" name="Google Shape;82;g1c2541be1bc_0_2">
            <a:extLst>
              <a:ext uri="{FF2B5EF4-FFF2-40B4-BE49-F238E27FC236}">
                <a16:creationId xmlns:a16="http://schemas.microsoft.com/office/drawing/2014/main" id="{19358C78-DAF9-E41A-4AD8-53DE67FC5D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5077" y="10"/>
            <a:ext cx="86739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/>
              <a:t>Difficulties </a:t>
            </a:r>
            <a:r>
              <a:rPr lang="en-US" sz="2400" dirty="0"/>
              <a:t>and solutions</a:t>
            </a:r>
            <a:endParaRPr lang="en-US" sz="2400" b="0"/>
          </a:p>
        </p:txBody>
      </p:sp>
      <p:sp>
        <p:nvSpPr>
          <p:cNvPr id="83" name="Google Shape;83;g1c2541be1bc_0_2">
            <a:extLst>
              <a:ext uri="{FF2B5EF4-FFF2-40B4-BE49-F238E27FC236}">
                <a16:creationId xmlns:a16="http://schemas.microsoft.com/office/drawing/2014/main" id="{C4EB9DA3-3F97-C80C-1417-D3824C661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5511" y="495544"/>
            <a:ext cx="8671067" cy="41524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>
              <a:buNone/>
            </a:pPr>
            <a:endParaRPr lang="en-US" sz="1200" dirty="0"/>
          </a:p>
          <a:p>
            <a:pPr marL="50800" indent="0">
              <a:buNone/>
            </a:pPr>
            <a:r>
              <a:rPr lang="en-US" sz="1200" b="1"/>
              <a:t>Problem 2: </a:t>
            </a:r>
            <a:r>
              <a:rPr lang="en-US" sz="1200"/>
              <a:t>Resource Exhaustion from Individual Record Processing</a:t>
            </a:r>
            <a:endParaRPr lang="en-US" sz="1200" dirty="0"/>
          </a:p>
          <a:p>
            <a:pPr marL="50800" indent="0">
              <a:buNone/>
            </a:pPr>
            <a:r>
              <a:rPr lang="en-US" sz="1200" dirty="0"/>
              <a:t>- The pipeline suffered from frequent crashes and memory exhaustion because the Kafka consumer was </a:t>
            </a:r>
            <a:r>
              <a:rPr lang="en-US" sz="1200"/>
              <a:t>writing every incoming record to HDFS individually </a:t>
            </a:r>
            <a:endParaRPr lang="en-US" sz="1200" dirty="0"/>
          </a:p>
          <a:p>
            <a:pPr marL="50800" indent="0">
              <a:buNone/>
            </a:pPr>
            <a:r>
              <a:rPr lang="en-US" sz="1200" dirty="0"/>
              <a:t>=&gt; Generated an excessive number of small files and high I/O overhead, overwhelming the storage system and the consumer pod's computing resources.</a:t>
            </a:r>
            <a:endParaRPr lang="en-US" sz="1200"/>
          </a:p>
          <a:p>
            <a:pPr marL="50800" indent="0">
              <a:buNone/>
            </a:pPr>
            <a:r>
              <a:rPr lang="en-US" sz="1200" b="1" dirty="0"/>
              <a:t>Solution: </a:t>
            </a:r>
            <a:r>
              <a:rPr lang="en-US" sz="1200" dirty="0"/>
              <a:t>Batch processing mechanism based on time windows and message counts. </a:t>
            </a:r>
          </a:p>
          <a:p>
            <a:pPr marL="222250" indent="-171450">
              <a:buFont typeface="Calibri"/>
              <a:buChar char="-"/>
            </a:pPr>
            <a:r>
              <a:rPr lang="en-US" sz="1200" dirty="0"/>
              <a:t>Instead of immediate writes, incoming records are buffered in memory and written to HDFS in consolidated batches. </a:t>
            </a:r>
            <a:endParaRPr lang="en-US"/>
          </a:p>
          <a:p>
            <a:pPr marL="222250" indent="-171450">
              <a:buFont typeface="Calibri"/>
              <a:buChar char="-"/>
            </a:pPr>
            <a:r>
              <a:rPr lang="en-US" sz="1200" dirty="0"/>
              <a:t>Each batch will have a fixed size and a time windows. The </a:t>
            </a:r>
            <a:r>
              <a:rPr lang="en-US" sz="1200" dirty="0" err="1"/>
              <a:t>batchs</a:t>
            </a:r>
            <a:r>
              <a:rPr lang="en-US" sz="1200" dirty="0"/>
              <a:t> will be sent when they exceed the time windows or reached its maximum size.</a:t>
            </a:r>
          </a:p>
          <a:p>
            <a:pPr marL="50800" indent="0">
              <a:buNone/>
            </a:pPr>
            <a:r>
              <a:rPr lang="en-US" sz="1200"/>
              <a:t>=&gt; This </a:t>
            </a:r>
            <a:r>
              <a:rPr lang="en-US" sz="1200" dirty="0"/>
              <a:t>optimization significantly reduced the frequency of file creation operations, lowered memory pressure, and prevented the pod from crashing due to resource starvation.</a:t>
            </a:r>
            <a:endParaRPr lang="en-US"/>
          </a:p>
          <a:p>
            <a:pPr>
              <a:buFont typeface="Calibri"/>
              <a:buChar char="-"/>
            </a:pPr>
            <a:endParaRPr lang="en-US" sz="1200" dirty="0"/>
          </a:p>
          <a:p>
            <a:pPr>
              <a:buFont typeface="Calibri"/>
              <a:buChar char="-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5725511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sldNum" idx="12"/>
          </p:nvPr>
        </p:nvSpPr>
        <p:spPr>
          <a:xfrm>
            <a:off x="6867383" y="4929095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10" name="Google Shape;110;p19"/>
          <p:cNvSpPr txBox="1"/>
          <p:nvPr/>
        </p:nvSpPr>
        <p:spPr>
          <a:xfrm>
            <a:off x="4181094" y="2266493"/>
            <a:ext cx="4197900" cy="6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800"/>
              <a:buFont typeface="Lato"/>
              <a:buNone/>
            </a:pPr>
            <a:r>
              <a:rPr lang="en-US" sz="4800" b="1" i="0" u="none" strike="noStrike" cap="none">
                <a:solidFill>
                  <a:srgbClr val="C00000"/>
                </a:solidFill>
                <a:latin typeface="Lato"/>
                <a:ea typeface="Lato"/>
                <a:cs typeface="Lato"/>
                <a:sym typeface="Lato"/>
              </a:rPr>
              <a:t>THANK YOU !</a:t>
            </a:r>
            <a:endParaRPr sz="4800" b="1" i="0" u="none" strike="noStrike" cap="none">
              <a:solidFill>
                <a:srgbClr val="C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0361c43-3fd2-4384-9fd6-dd0bbbad8d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BB1F6E70154E4BAC035C2A2B8E8CE6" ma:contentTypeVersion="13" ma:contentTypeDescription="Create a new document." ma:contentTypeScope="" ma:versionID="feea381c0405a73e05c689c6073745e2">
  <xsd:schema xmlns:xsd="http://www.w3.org/2001/XMLSchema" xmlns:xs="http://www.w3.org/2001/XMLSchema" xmlns:p="http://schemas.microsoft.com/office/2006/metadata/properties" xmlns:ns3="f0361c43-3fd2-4384-9fd6-dd0bbbad8da7" xmlns:ns4="dd06b02d-ef5d-4196-9b6f-0595f33bdb1d" targetNamespace="http://schemas.microsoft.com/office/2006/metadata/properties" ma:root="true" ma:fieldsID="84e8165c75c4ae3d9918e39ce4c2a36c" ns3:_="" ns4:_="">
    <xsd:import namespace="f0361c43-3fd2-4384-9fd6-dd0bbbad8da7"/>
    <xsd:import namespace="dd06b02d-ef5d-4196-9b6f-0595f33bdb1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361c43-3fd2-4384-9fd6-dd0bbbad8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06b02d-ef5d-4196-9b6f-0595f33b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762B5DB-8851-4955-849D-F57DBAABBAEF}">
  <ds:schemaRefs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dd06b02d-ef5d-4196-9b6f-0595f33bdb1d"/>
    <ds:schemaRef ds:uri="f0361c43-3fd2-4384-9fd6-dd0bbbad8da7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E1EDD4C-06AC-4138-98B0-E6B16D4EE43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AAC754-56FF-4472-BE98-0AC3E7F8F7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0361c43-3fd2-4384-9fd6-dd0bbbad8da7"/>
    <ds:schemaRef ds:uri="dd06b02d-ef5d-4196-9b6f-0595f33b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417</Words>
  <Application>Microsoft Office PowerPoint</Application>
  <PresentationFormat>On-screen Show (16:9)</PresentationFormat>
  <Paragraphs>96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Architecture</vt:lpstr>
      <vt:lpstr>Data Storage</vt:lpstr>
      <vt:lpstr>Architecture</vt:lpstr>
      <vt:lpstr>System Components </vt:lpstr>
      <vt:lpstr>Data Storage</vt:lpstr>
      <vt:lpstr>Data Ingestion</vt:lpstr>
      <vt:lpstr>Data Processing</vt:lpstr>
      <vt:lpstr>Data Serving</vt:lpstr>
      <vt:lpstr>Data Visualization</vt:lpstr>
      <vt:lpstr>Difficulties and solutions</vt:lpstr>
      <vt:lpstr>Difficulties and solutions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Phạm Tùng</dc:creator>
  <cp:lastModifiedBy>Nhu Minh Ha 20212784</cp:lastModifiedBy>
  <cp:revision>224</cp:revision>
  <dcterms:modified xsi:type="dcterms:W3CDTF">2026-01-05T01:46:00Z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0x01010053BB1F6E70154E4BAC035C2A2B8E8CE6</vt:lpwstr>
  </property>
</Properties>
</file>